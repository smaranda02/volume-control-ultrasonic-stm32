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251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02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35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6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4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08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83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37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7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24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AF8E75F-778A-450A-A89E-A691A9CF15DA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D3676B8-FD63-4899-A168-18480EA528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36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8DA3-D5AA-3E52-5161-23754872D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074606"/>
            <a:ext cx="8991600" cy="1958058"/>
          </a:xfrm>
        </p:spPr>
        <p:txBody>
          <a:bodyPr>
            <a:normAutofit/>
          </a:bodyPr>
          <a:lstStyle/>
          <a:p>
            <a:r>
              <a:rPr lang="en-GB" dirty="0"/>
              <a:t>MES Project </a:t>
            </a:r>
            <a:br>
              <a:rPr lang="en-GB" dirty="0"/>
            </a:br>
            <a:r>
              <a:rPr lang="en-GB" dirty="0"/>
              <a:t>Volume control using an ultrasonic sensor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E266F-7DC9-67D1-C66F-319302EAC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460699"/>
            <a:ext cx="6801612" cy="1015869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/>
              <a:t>Author:  Andronic Smaranda</a:t>
            </a:r>
          </a:p>
          <a:p>
            <a:r>
              <a:rPr lang="en-GB"/>
              <a:t>Master’s Program:  </a:t>
            </a:r>
            <a:r>
              <a:rPr lang="en-GB" dirty="0"/>
              <a:t>ACES  </a:t>
            </a:r>
          </a:p>
        </p:txBody>
      </p:sp>
    </p:spTree>
    <p:extLst>
      <p:ext uri="{BB962C8B-B14F-4D97-AF65-F5344CB8AC3E}">
        <p14:creationId xmlns:p14="http://schemas.microsoft.com/office/powerpoint/2010/main" val="406502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A3F6-8FE6-9880-FD4B-4FC517C1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955" y="453415"/>
            <a:ext cx="6155780" cy="1188720"/>
          </a:xfrm>
        </p:spPr>
        <p:txBody>
          <a:bodyPr/>
          <a:lstStyle/>
          <a:p>
            <a:r>
              <a:rPr lang="en-GB" dirty="0"/>
              <a:t>PROJECT DESCRIPTION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8BF07-B6DE-54D1-63D8-57DC8E628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322" y="2153362"/>
            <a:ext cx="4251223" cy="4251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E0AB3-D10F-288F-8735-D9BA1B6B32FB}"/>
              </a:ext>
            </a:extLst>
          </p:cNvPr>
          <p:cNvSpPr txBox="1"/>
          <p:nvPr/>
        </p:nvSpPr>
        <p:spPr>
          <a:xfrm>
            <a:off x="603455" y="3264309"/>
            <a:ext cx="6272981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This project aims to understand low-level programming on an ARM-based STM32 microcontroller by working directly with registers, timers, GPIOs, and interrupts. </a:t>
            </a:r>
          </a:p>
          <a:p>
            <a:endParaRPr lang="en-GB" dirty="0"/>
          </a:p>
          <a:p>
            <a:r>
              <a:rPr lang="en-GB" dirty="0"/>
              <a:t>As a practical example, an ultrasonic alarm system was implemented using an HC-SR04 sensor and a buzzer, where the alarm behaviour changes based on the detected distance.</a:t>
            </a:r>
          </a:p>
        </p:txBody>
      </p:sp>
    </p:spTree>
    <p:extLst>
      <p:ext uri="{BB962C8B-B14F-4D97-AF65-F5344CB8AC3E}">
        <p14:creationId xmlns:p14="http://schemas.microsoft.com/office/powerpoint/2010/main" val="100786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F0C3-D146-0E26-1A98-3127EE7F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59892"/>
            <a:ext cx="7729728" cy="1188720"/>
          </a:xfrm>
        </p:spPr>
        <p:txBody>
          <a:bodyPr/>
          <a:lstStyle/>
          <a:p>
            <a:r>
              <a:rPr lang="en-GB" dirty="0"/>
              <a:t>Hardware setup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035E99-D40D-D179-5EAE-B8D1C0D54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399" r="3656"/>
          <a:stretch>
            <a:fillRect/>
          </a:stretch>
        </p:blipFill>
        <p:spPr>
          <a:xfrm rot="16200000">
            <a:off x="966042" y="1624801"/>
            <a:ext cx="4313912" cy="5769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ADEB2-B91A-5736-D88B-83B11F73C78F}"/>
              </a:ext>
            </a:extLst>
          </p:cNvPr>
          <p:cNvSpPr txBox="1"/>
          <p:nvPr/>
        </p:nvSpPr>
        <p:spPr>
          <a:xfrm>
            <a:off x="6265655" y="2871019"/>
            <a:ext cx="57690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/>
              <a:t>Components used: </a:t>
            </a:r>
            <a:endParaRPr lang="en-GB" sz="2400" b="1" dirty="0"/>
          </a:p>
          <a:p>
            <a:endParaRPr lang="en-GB" sz="2400" b="1" dirty="0"/>
          </a:p>
          <a:p>
            <a:pPr lvl="0"/>
            <a:r>
              <a:rPr lang="ro-RO" b="1" dirty="0"/>
              <a:t>Microcontroller</a:t>
            </a:r>
            <a:r>
              <a:rPr lang="ro-RO" dirty="0"/>
              <a:t>: STM32L476 Nucleo </a:t>
            </a:r>
            <a:r>
              <a:rPr lang="en-GB" dirty="0"/>
              <a:t>development b</a:t>
            </a:r>
            <a:r>
              <a:rPr lang="ro-RO" dirty="0"/>
              <a:t>oard</a:t>
            </a:r>
            <a:endParaRPr lang="en-GB" dirty="0"/>
          </a:p>
          <a:p>
            <a:pPr lvl="0"/>
            <a:r>
              <a:rPr lang="en-GB" b="1" dirty="0"/>
              <a:t>U</a:t>
            </a:r>
            <a:r>
              <a:rPr lang="ro-RO" b="1" dirty="0"/>
              <a:t>ltrasonic distance sensor</a:t>
            </a:r>
            <a:r>
              <a:rPr lang="en-GB" b="1" dirty="0"/>
              <a:t>:</a:t>
            </a:r>
            <a:r>
              <a:rPr lang="ro-RO" b="1" dirty="0"/>
              <a:t> </a:t>
            </a:r>
            <a:r>
              <a:rPr lang="ro-RO" dirty="0"/>
              <a:t>HC-SR04</a:t>
            </a:r>
            <a:endParaRPr lang="en-GB" dirty="0"/>
          </a:p>
          <a:p>
            <a:pPr lvl="0"/>
            <a:r>
              <a:rPr lang="ro-RO" b="1" dirty="0"/>
              <a:t>Buzzer</a:t>
            </a:r>
            <a:r>
              <a:rPr lang="ro-RO" dirty="0"/>
              <a:t> : </a:t>
            </a:r>
            <a:r>
              <a:rPr lang="en-GB" dirty="0"/>
              <a:t>Piezoelectric active </a:t>
            </a:r>
            <a:r>
              <a:rPr lang="en-GB" dirty="0" err="1"/>
              <a:t>bu</a:t>
            </a:r>
            <a:r>
              <a:rPr lang="ro-RO" dirty="0"/>
              <a:t>zzer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8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0E3C1-4D74-5E46-4B90-82C8CD9E8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509" y="257489"/>
            <a:ext cx="6109003" cy="61875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BCABE2-57EA-581A-A382-A238F4FCAC83}"/>
              </a:ext>
            </a:extLst>
          </p:cNvPr>
          <p:cNvCxnSpPr/>
          <p:nvPr/>
        </p:nvCxnSpPr>
        <p:spPr>
          <a:xfrm>
            <a:off x="2035275" y="4571999"/>
            <a:ext cx="1466501" cy="936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9DD0D5F-A5BC-1FFB-1EFA-CD7D73D9F108}"/>
              </a:ext>
            </a:extLst>
          </p:cNvPr>
          <p:cNvSpPr txBox="1"/>
          <p:nvPr/>
        </p:nvSpPr>
        <p:spPr>
          <a:xfrm>
            <a:off x="792238" y="4264222"/>
            <a:ext cx="204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Piezoelectric buzzer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8D31FC-6970-B037-3B11-BA725E4B2C85}"/>
              </a:ext>
            </a:extLst>
          </p:cNvPr>
          <p:cNvCxnSpPr>
            <a:cxnSpLocks/>
          </p:cNvCxnSpPr>
          <p:nvPr/>
        </p:nvCxnSpPr>
        <p:spPr>
          <a:xfrm flipH="1" flipV="1">
            <a:off x="5820697" y="5039999"/>
            <a:ext cx="3913238" cy="93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0C79AA-CE88-A993-471F-E45A58B63803}"/>
              </a:ext>
            </a:extLst>
          </p:cNvPr>
          <p:cNvSpPr txBox="1"/>
          <p:nvPr/>
        </p:nvSpPr>
        <p:spPr>
          <a:xfrm>
            <a:off x="9068512" y="5981439"/>
            <a:ext cx="2045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Ultrasonic sensor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8214BA-BBA1-F114-7E55-1ADE68693BCB}"/>
              </a:ext>
            </a:extLst>
          </p:cNvPr>
          <p:cNvCxnSpPr>
            <a:cxnSpLocks/>
          </p:cNvCxnSpPr>
          <p:nvPr/>
        </p:nvCxnSpPr>
        <p:spPr>
          <a:xfrm flipH="1" flipV="1">
            <a:off x="8560407" y="2687023"/>
            <a:ext cx="1432339" cy="6642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11453C-E30C-2946-EA66-9CD07536C0C9}"/>
              </a:ext>
            </a:extLst>
          </p:cNvPr>
          <p:cNvSpPr txBox="1"/>
          <p:nvPr/>
        </p:nvSpPr>
        <p:spPr>
          <a:xfrm>
            <a:off x="9276576" y="3352845"/>
            <a:ext cx="2551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o-RO" sz="1400" b="1" dirty="0"/>
              <a:t>STM32L476 Nucleo </a:t>
            </a:r>
            <a:r>
              <a:rPr lang="en-GB" sz="1400" b="1" dirty="0"/>
              <a:t>development b</a:t>
            </a:r>
            <a:r>
              <a:rPr lang="ro-RO" sz="1400" b="1" dirty="0"/>
              <a:t>oard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418977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03AA-DBB3-32F8-81F5-60DAD7E8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2911"/>
            <a:ext cx="7729728" cy="1188720"/>
          </a:xfrm>
        </p:spPr>
        <p:txBody>
          <a:bodyPr/>
          <a:lstStyle/>
          <a:p>
            <a:r>
              <a:rPr lang="en-GB" dirty="0"/>
              <a:t>Software Pipeline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BB1AC4-F9F4-0211-2510-FCCE807C1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43" t="7885" r="4629"/>
          <a:stretch>
            <a:fillRect/>
          </a:stretch>
        </p:blipFill>
        <p:spPr bwMode="auto">
          <a:xfrm>
            <a:off x="495622" y="1993257"/>
            <a:ext cx="6544275" cy="43818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B1391-CAC9-F98F-E3CA-73A7475F1BCA}"/>
              </a:ext>
            </a:extLst>
          </p:cNvPr>
          <p:cNvSpPr txBox="1"/>
          <p:nvPr/>
        </p:nvSpPr>
        <p:spPr>
          <a:xfrm>
            <a:off x="7910445" y="4897761"/>
            <a:ext cx="4100838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Timer interrupts are triggered by hardware events on the ultrasonic sensor’s echo pin and are used to capture precise timing information without blocking the main program flow.</a:t>
            </a:r>
          </a:p>
        </p:txBody>
      </p:sp>
    </p:spTree>
    <p:extLst>
      <p:ext uri="{BB962C8B-B14F-4D97-AF65-F5344CB8AC3E}">
        <p14:creationId xmlns:p14="http://schemas.microsoft.com/office/powerpoint/2010/main" val="107278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567B5-4043-A550-F926-4A3E1646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8" r="1195"/>
          <a:stretch>
            <a:fillRect/>
          </a:stretch>
        </p:blipFill>
        <p:spPr>
          <a:xfrm>
            <a:off x="216309" y="153900"/>
            <a:ext cx="5506064" cy="21085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4F435A-9358-E45F-B746-6D2AB830E232}"/>
              </a:ext>
            </a:extLst>
          </p:cNvPr>
          <p:cNvCxnSpPr>
            <a:cxnSpLocks/>
          </p:cNvCxnSpPr>
          <p:nvPr/>
        </p:nvCxnSpPr>
        <p:spPr>
          <a:xfrm>
            <a:off x="3667432" y="1897626"/>
            <a:ext cx="7964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AC6DCB-BDD6-9044-FC3B-32605821C3B0}"/>
              </a:ext>
            </a:extLst>
          </p:cNvPr>
          <p:cNvCxnSpPr>
            <a:cxnSpLocks/>
          </p:cNvCxnSpPr>
          <p:nvPr/>
        </p:nvCxnSpPr>
        <p:spPr>
          <a:xfrm flipV="1">
            <a:off x="2438400" y="2005781"/>
            <a:ext cx="2025445" cy="167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ACCA51-3B2D-955A-98BD-1E2FAAB2E763}"/>
              </a:ext>
            </a:extLst>
          </p:cNvPr>
          <p:cNvSpPr txBox="1"/>
          <p:nvPr/>
        </p:nvSpPr>
        <p:spPr>
          <a:xfrm>
            <a:off x="4522838" y="1187332"/>
            <a:ext cx="1140542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Custom functions. </a:t>
            </a:r>
          </a:p>
          <a:p>
            <a:r>
              <a:rPr lang="en-GB" sz="1200" dirty="0"/>
              <a:t>Not using HAL for configuring timers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2E802C-6792-CB75-77C0-38CD4979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41"/>
          <a:stretch>
            <a:fillRect/>
          </a:stretch>
        </p:blipFill>
        <p:spPr>
          <a:xfrm>
            <a:off x="216309" y="2513642"/>
            <a:ext cx="3525742" cy="3852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C41A4F-BE2B-D27B-405F-A64E8A95D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629" y="134251"/>
            <a:ext cx="5319252" cy="2147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D0C35B-43DB-285F-C1D4-64586D7829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30" b="1301"/>
          <a:stretch>
            <a:fillRect/>
          </a:stretch>
        </p:blipFill>
        <p:spPr>
          <a:xfrm>
            <a:off x="7766845" y="2513642"/>
            <a:ext cx="4022036" cy="38529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B0B008-45A0-798D-4551-7D749278E5BA}"/>
              </a:ext>
            </a:extLst>
          </p:cNvPr>
          <p:cNvSpPr txBox="1"/>
          <p:nvPr/>
        </p:nvSpPr>
        <p:spPr>
          <a:xfrm>
            <a:off x="5707625" y="5688437"/>
            <a:ext cx="2020528" cy="10156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 echo pin is connected to TIM1 in input capture mode, which generates interrupts on both the rising and falling edges of the echo signal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AD303-C3DB-9A6C-9F57-DF09188A5DC8}"/>
              </a:ext>
            </a:extLst>
          </p:cNvPr>
          <p:cNvSpPr txBox="1"/>
          <p:nvPr/>
        </p:nvSpPr>
        <p:spPr>
          <a:xfrm>
            <a:off x="5213558" y="2821858"/>
            <a:ext cx="2020528" cy="11079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 err="1"/>
              <a:t>Sensor_Trigger</a:t>
            </a:r>
            <a:r>
              <a:rPr lang="en-GB" sz="1100" dirty="0"/>
              <a:t>() sends a precise 10 µs trigger pulse to the ultrasonic sensor, resets the timer, and prepares the system to measure the echo pulse using timer interrupts.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DA2A01-62DB-772B-7D36-93FB969F29B6}"/>
              </a:ext>
            </a:extLst>
          </p:cNvPr>
          <p:cNvCxnSpPr>
            <a:cxnSpLocks/>
          </p:cNvCxnSpPr>
          <p:nvPr/>
        </p:nvCxnSpPr>
        <p:spPr>
          <a:xfrm flipV="1">
            <a:off x="6872748" y="2202995"/>
            <a:ext cx="580104" cy="61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ABB783-A540-27FA-473F-9B45072948D5}"/>
              </a:ext>
            </a:extLst>
          </p:cNvPr>
          <p:cNvSpPr txBox="1"/>
          <p:nvPr/>
        </p:nvSpPr>
        <p:spPr>
          <a:xfrm>
            <a:off x="3854245" y="4440131"/>
            <a:ext cx="1868128" cy="900246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GB" sz="1050" dirty="0"/>
              <a:t>This function configures Timer 3 (TIM3) at register level to generate a PWM signal used to drive the active buzzer on PA6 (TIM3_CH1).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CF719E-5030-D213-5DE7-B53476246A52}"/>
              </a:ext>
            </a:extLst>
          </p:cNvPr>
          <p:cNvCxnSpPr>
            <a:cxnSpLocks/>
          </p:cNvCxnSpPr>
          <p:nvPr/>
        </p:nvCxnSpPr>
        <p:spPr>
          <a:xfrm flipH="1">
            <a:off x="3100042" y="4839223"/>
            <a:ext cx="729862" cy="155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1A2D07-7EB2-B965-A3E5-3BF4C9A01B88}"/>
              </a:ext>
            </a:extLst>
          </p:cNvPr>
          <p:cNvCxnSpPr>
            <a:cxnSpLocks/>
          </p:cNvCxnSpPr>
          <p:nvPr/>
        </p:nvCxnSpPr>
        <p:spPr>
          <a:xfrm flipV="1">
            <a:off x="7096465" y="4917005"/>
            <a:ext cx="945681" cy="771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21502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391</TotalTime>
  <Words>234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MES Project  Volume control using an ultrasonic sensor </vt:lpstr>
      <vt:lpstr>PROJECT DESCRIPTION</vt:lpstr>
      <vt:lpstr>Hardware setup </vt:lpstr>
      <vt:lpstr>PowerPoint Presentation</vt:lpstr>
      <vt:lpstr>Software Pipeline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Smaranda Andronic</dc:creator>
  <cp:lastModifiedBy>Smaranda Andronic</cp:lastModifiedBy>
  <cp:revision>25</cp:revision>
  <dcterms:created xsi:type="dcterms:W3CDTF">2026-01-20T15:47:16Z</dcterms:created>
  <dcterms:modified xsi:type="dcterms:W3CDTF">2026-01-20T22:43:43Z</dcterms:modified>
</cp:coreProperties>
</file>